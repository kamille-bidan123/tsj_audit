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fa35594ad0f47ab" /><Relationship Type="http://schemas.openxmlformats.org/officeDocument/2006/relationships/extended-properties" Target="/docProps/app.xml" Id="R3051de094ebf4a6a" /><Relationship Type="http://schemas.openxmlformats.org/officeDocument/2006/relationships/officeDocument" Target="/ppt/presentation.xml" Id="R4390f582d9f34ad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0b3c2917714d1a"/>
  </p:sldMasterIdLst>
  <p:notesMasterIdLst>
    <p:notesMasterId xmlns:r="http://schemas.openxmlformats.org/officeDocument/2006/relationships" r:id="Ra8e5792cbdb74e68"/>
  </p:notesMasterIdLst>
  <p:sldIdLst>
    <p:sldId xmlns:r="http://schemas.openxmlformats.org/officeDocument/2006/relationships" id="256" r:id="R408d0229e6814e44"/>
    <p:sldId xmlns:r="http://schemas.openxmlformats.org/officeDocument/2006/relationships" id="257" r:id="Rf826991d794443e3"/>
    <p:sldId xmlns:r="http://schemas.openxmlformats.org/officeDocument/2006/relationships" id="258" r:id="R133289db7f714f7b"/>
    <p:sldId xmlns:r="http://schemas.openxmlformats.org/officeDocument/2006/relationships" id="259" r:id="Rff73ee90a6a142dc"/>
    <p:sldId xmlns:r="http://schemas.openxmlformats.org/officeDocument/2006/relationships" id="260" r:id="Rc3a4362147b94a8a"/>
    <p:sldId xmlns:r="http://schemas.openxmlformats.org/officeDocument/2006/relationships" id="261" r:id="R55423b1dc2d14d2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0b3c2917714d1a" /><Relationship Type="http://schemas.openxmlformats.org/officeDocument/2006/relationships/theme" Target="/ppt/theme/theme1.xml" Id="R5191875c415b4d59" /><Relationship Type="http://schemas.openxmlformats.org/officeDocument/2006/relationships/notesMaster" Target="/ppt/notesMasters/notesMaster1.xml" Id="Ra8e5792cbdb74e68" /><Relationship Type="http://schemas.openxmlformats.org/officeDocument/2006/relationships/presProps" Target="/ppt/presProps.xml" Id="Ra097c909f4314257" /><Relationship Type="http://schemas.openxmlformats.org/officeDocument/2006/relationships/viewProps" Target="/ppt/viewProps.xml" Id="Rea04e922c8cc49e4" /><Relationship Type="http://schemas.openxmlformats.org/officeDocument/2006/relationships/tableStyles" Target="/ppt/tableStyles.xml" Id="Rd13e08efc432480f" /><Relationship Type="http://schemas.openxmlformats.org/officeDocument/2006/relationships/slide" Target="/ppt/slides/slide1.xml" Id="R408d0229e6814e44" /><Relationship Type="http://schemas.openxmlformats.org/officeDocument/2006/relationships/slide" Target="/ppt/slides/slide2.xml" Id="Rf826991d794443e3" /><Relationship Type="http://schemas.openxmlformats.org/officeDocument/2006/relationships/slide" Target="/ppt/slides/slide3.xml" Id="R133289db7f714f7b" /><Relationship Type="http://schemas.openxmlformats.org/officeDocument/2006/relationships/slide" Target="/ppt/slides/slide4.xml" Id="Rff73ee90a6a142dc" /><Relationship Type="http://schemas.openxmlformats.org/officeDocument/2006/relationships/slide" Target="/ppt/slides/slide5.xml" Id="Rc3a4362147b94a8a" /><Relationship Type="http://schemas.openxmlformats.org/officeDocument/2006/relationships/slide" Target="/ppt/slides/slide6.xml" Id="R55423b1dc2d14d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881c5da26d649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4b3d8905864a58" /><Relationship Type="http://schemas.openxmlformats.org/officeDocument/2006/relationships/notesMaster" Target="/ppt/notesMasters/notesMaster1.xml" Id="Rc765a2d05cc1452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038345090c14b30" /><Relationship Type="http://schemas.openxmlformats.org/officeDocument/2006/relationships/notesMaster" Target="/ppt/notesMasters/notesMaster1.xml" Id="R3ca9938b97df4e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30fc6756144909" /><Relationship Type="http://schemas.openxmlformats.org/officeDocument/2006/relationships/notesMaster" Target="/ppt/notesMasters/notesMaster1.xml" Id="R0a2c29ae5cfc457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50e4628ba07436d" /><Relationship Type="http://schemas.openxmlformats.org/officeDocument/2006/relationships/notesMaster" Target="/ppt/notesMasters/notesMaster1.xml" Id="R62d16cf0edcd498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7f4625f6c843e2" /><Relationship Type="http://schemas.openxmlformats.org/officeDocument/2006/relationships/notesMaster" Target="/ppt/notesMasters/notesMaster1.xml" Id="Rdf3ff499b75b4d1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7a69aa9ee3e45b1" /><Relationship Type="http://schemas.openxmlformats.org/officeDocument/2006/relationships/notesMaster" Target="/ppt/notesMasters/notesMaster1.xml" Id="R2c28731c33ea4c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7ae31bca904be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aae386bee0d48e5" /><Relationship Type="http://schemas.openxmlformats.org/officeDocument/2006/relationships/slideLayout" Target="/ppt/slideLayouts/slideLayout2.xml" Id="R918dc88529854d1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8dc88529854d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2c4390891dd40c1" /><Relationship Type="http://schemas.openxmlformats.org/officeDocument/2006/relationships/notesSlide" Target="/ppt/notesSlides/notesSlide1.xml" Id="R3549fa1381f3495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b83ffd747840f7" /><Relationship Type="http://schemas.openxmlformats.org/officeDocument/2006/relationships/notesSlide" Target="/ppt/notesSlides/notesSlide2.xml" Id="Ra81c30b5b52a437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6818288f164acd" /><Relationship Type="http://schemas.openxmlformats.org/officeDocument/2006/relationships/notesSlide" Target="/ppt/notesSlides/notesSlide3.xml" Id="R828c1ae93692455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5b5113783348bd" /><Relationship Type="http://schemas.openxmlformats.org/officeDocument/2006/relationships/notesSlide" Target="/ppt/notesSlides/notesSlide4.xml" Id="Rc5f661859a4646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52e056abcf845e2" /><Relationship Type="http://schemas.openxmlformats.org/officeDocument/2006/relationships/notesSlide" Target="/ppt/notesSlides/notesSlide5.xml" Id="R25739d47a5154fb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f18533d30e4ecc" /><Relationship Type="http://schemas.openxmlformats.org/officeDocument/2006/relationships/notesSlide" Target="/ppt/notesSlides/notesSlide6.xml" Id="Rb84e99d5cbd8446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0C81B4-0B1D-4577-9021-F2D2023D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C116E5-00FB-47DA-AD20-7048C326F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9748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9748A"/>
                </a:solidFill>
                <a:latin typeface="Aptos"/>
                <a:ea typeface="Aptos"/>
                <a:cs typeface="Aptos"/>
              </a:rPr>
              <a:t>TSJ Audit | Code Audit AI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C4881D-2069-4B4C-AB90-C8C130B5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95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B77F29E-D2F3-45E0-A884-EFD6ED47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82ECBEB-D86E-4C1B-8FE5-354D1D19A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FLOW SUMMARY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E20EA5-736E-4C98-8F77-628C0DBA7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781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代码审计 AI 工具是一条“入口函数驱动”的多阶段流水线。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867C53-438D-45DF-89A0-20E1FB90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00200"/>
            <a:ext cx="8191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9748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9748A"/>
                </a:solidFill>
                <a:latin typeface="Aptos"/>
                <a:ea typeface="Aptos"/>
                <a:cs typeface="Aptos"/>
              </a:rPr>
              <a:t>它先扫描并定位入口函数，再让外部 Agent Runtime 做污点追踪、漏洞审计和可选 PoC 验证，最后以 checkpoint 为事实源合并导出报告。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578DD7-4209-4963-98F4-520EA49CA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1123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1F6F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CB9EDA-7F22-4248-B934-192D126BE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90775"/>
            <a:ext cx="895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输入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D49EC0-AEBC-4592-B344-A1248E9DF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343150"/>
            <a:ext cx="1123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6F4"/>
          </a:solidFill>
          <a:ln xmlns:a="http://schemas.openxmlformats.org/drawingml/2006/main" w="9525">
            <a:solidFill>
              <a:srgbClr val="0F9F8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A95363-A91C-4DDD-A790-0D9A27839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390775"/>
            <a:ext cx="895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9F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9F8F"/>
                </a:solidFill>
                <a:latin typeface="Aptos"/>
                <a:ea typeface="Aptos"/>
                <a:cs typeface="Aptos"/>
              </a:rPr>
              <a:t>追踪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205B31-C2A5-48BB-BB09-D15DA3E2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43150"/>
            <a:ext cx="1123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D28A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588C52-6F08-488C-A2DA-BF7D69C41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90775"/>
            <a:ext cx="895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28A0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28A00"/>
                </a:solidFill>
                <a:latin typeface="Aptos"/>
                <a:ea typeface="Aptos"/>
                <a:cs typeface="Aptos"/>
              </a:rPr>
              <a:t>审计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C0CF1F-913B-45FC-8025-EC215D3A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43150"/>
            <a:ext cx="1123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D6454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DBA9D4-550A-487B-B832-476A29921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90775"/>
            <a:ext cx="895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6454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64545"/>
                </a:solidFill>
                <a:latin typeface="Aptos"/>
                <a:ea typeface="Aptos"/>
                <a:cs typeface="Aptos"/>
              </a:rPr>
              <a:t>验证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EE4DE6-8764-42B2-A37B-368EB12FE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43150"/>
            <a:ext cx="1123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2E8B5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E60F97-D78D-459A-9806-95B336519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90775"/>
            <a:ext cx="895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E8B5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E8B57"/>
                </a:solidFill>
                <a:latin typeface="Aptos"/>
                <a:ea typeface="Aptos"/>
                <a:cs typeface="Aptos"/>
              </a:rPr>
              <a:t>输出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424261-C5E1-4955-AE3A-E9BB53748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1809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2383">
            <a:solidFill>
              <a:srgbClr val="CFD7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AEF557-A712-439F-90A9-8A0E8AF9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6FAE83-43AE-4328-87F0-9DC518548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CLI + Config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43C09A-9813-4594-ACEB-D246465CA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81375"/>
            <a:ext cx="1504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9748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9748A"/>
                </a:solidFill>
                <a:latin typeface="Aptos"/>
                <a:ea typeface="Aptos"/>
                <a:cs typeface="Aptos"/>
              </a:rPr>
              <a:t>命令行参数覆盖 .env 与默认配置；支持 runtime、project、scan、output、resume。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6C71F4-4E79-47D4-99CB-A8F46D274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971800"/>
            <a:ext cx="1809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6F4"/>
          </a:solidFill>
          <a:ln xmlns:a="http://schemas.openxmlformats.org/drawingml/2006/main" w="12383">
            <a:solidFill>
              <a:srgbClr val="CFD7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5786C0-70CC-412E-B136-53B572EC6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97180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3C2EB6-523E-4293-A0FC-D91C863D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10515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TraceAgent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D1DF2F-CB60-4AF2-B88E-B95F9AE9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381375"/>
            <a:ext cx="1504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9748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9748A"/>
                </a:solidFill>
                <a:latin typeface="Aptos"/>
                <a:ea typeface="Aptos"/>
                <a:cs typeface="Aptos"/>
              </a:rPr>
              <a:t>按扫描结果逐个入口函数调用 trace explorer，产出 code_logic 与 code_map。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C9C219-BCEE-421A-B50E-1580ABF4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971800"/>
            <a:ext cx="1809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12383">
            <a:solidFill>
              <a:srgbClr val="CFD7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644936-ADBE-47F7-9687-7631EC60C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97180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78F4DF-E168-4793-80FB-7E6A109F9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10515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AuditAgent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BAC123-5647-4764-8781-8FA51369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381375"/>
            <a:ext cx="1504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9748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9748A"/>
                </a:solidFill>
                <a:latin typeface="Aptos"/>
                <a:ea typeface="Aptos"/>
                <a:cs typeface="Aptos"/>
              </a:rPr>
              <a:t>根据 FunctionInfo.audit_types 或默认 YAML spec 分发多类漏洞审计。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7C9CB3-4225-4A54-8E99-0FCA0DE7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971800"/>
            <a:ext cx="1809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12383">
            <a:solidFill>
              <a:srgbClr val="CFD7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27A45D-7580-426F-A8E6-3CDAA5BDF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97180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CDF754-8EA3-4D4A-86FB-F77DC8851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0515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ExploitAgent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D0EE379-4F75-469E-8492-2AD5ECF8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381375"/>
            <a:ext cx="1504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9748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9748A"/>
                </a:solidFill>
                <a:latin typeface="Aptos"/>
                <a:ea typeface="Aptos"/>
                <a:cs typeface="Aptos"/>
              </a:rPr>
              <a:t>当漏洞成立且置信度达标时，生成/执行安全 PoC 进行确认。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C5B795-30B6-4E89-9BE7-F7C4B0C7C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71800"/>
            <a:ext cx="1809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F"/>
          </a:solidFill>
          <a:ln xmlns:a="http://schemas.openxmlformats.org/drawingml/2006/main" w="12383">
            <a:solidFill>
              <a:srgbClr val="CFD7E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EB75D87-875B-481F-AB63-D32C7FB8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7180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C7832CF-5C29-4579-A605-54E8984C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10515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Report Export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D5A0328-C8A2-445C-A2B1-E028F9935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381375"/>
            <a:ext cx="1504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9748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9748A"/>
                </a:solidFill>
                <a:latin typeface="Aptos"/>
                <a:ea typeface="Aptos"/>
                <a:cs typeface="Aptos"/>
              </a:rPr>
              <a:t>每个函数保存 checkpoint，最后合并生成 JSON、HTML、SARIF。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B6CAEB2-71AE-4A79-B552-41F04E31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核心设计取向：把“代码理解”和“漏洞判断”拆成可恢复、可替换 runtime、可审计输出的分层流程。</a:t>
            </a:r>
          </a:p>
        </p:txBody>
      </p:sp>
    </p:spTree>
    <p:extLst>
      <p:ext uri="{BB962C8B-B14F-4D97-AF65-F5344CB8AC3E}">
        <p14:creationId xmlns:p14="http://schemas.microsoft.com/office/powerpoint/2010/main" val="13601096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8DA3CB-FFA1-4ACA-AD5F-75A43CE7B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A9C312-797E-4ACB-8007-416618091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9748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9748A"/>
                </a:solidFill>
                <a:latin typeface="Aptos"/>
                <a:ea typeface="Aptos"/>
                <a:cs typeface="Aptos"/>
              </a:rPr>
              <a:t>TSJ Audit | Code Audit AI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BBA65D-D550-4601-BF6C-9F8665AAB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95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6B5DCC5-B703-4DFF-82F6-54FF487E0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FD39EC5-E1D4-4B3C-A468-C718A6353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END-TO-END 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EBE116-6349-4D17-9F75-92DC64A5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781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完整流程围绕扫描结果循环，每个函数单独沉淀一次结构化结论。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4B9E46-3B6E-439D-9A39-21BF77A5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00200"/>
            <a:ext cx="8191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9748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9748A"/>
                </a:solidFill>
                <a:latin typeface="Aptos"/>
                <a:ea typeface="Aptos"/>
                <a:cs typeface="Aptos"/>
              </a:rPr>
              <a:t>流程主线来自 main.py、TraceAgent.audit_all、AuditAgent.audit、ExploitAgent.exploit 和 export_utils.merge_checkpoints_and_export。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04EFB4-75B1-483C-8A91-A3F9A56D8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152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2383">
            <a:solidFill>
              <a:srgbClr val="CFD7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EE4098-3872-4C39-B395-EC71B2455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741FBC-1825-4630-BC75-32DB78B6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9800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parse_args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F82A55-AE23-4B8C-B86C-BB2963C93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86025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9748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9748A"/>
                </a:solidFill>
                <a:latin typeface="Aptos"/>
                <a:ea typeface="Aptos"/>
                <a:cs typeface="Aptos"/>
              </a:rPr>
              <a:t>读取 CLI 参数并初始化 Config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A72EE1-5535-48DF-850A-879CC115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076450"/>
            <a:ext cx="16764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2383">
            <a:solidFill>
              <a:srgbClr val="CFD7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438A7E-FF68-4468-882C-C1BA40648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0764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46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4CB03E-39AC-4EDC-A2A4-F4BBA0A85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20980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resume guard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58DC30-6B8B-4199-A192-1822033D4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86025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9748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9748A"/>
                </a:solidFill>
                <a:latin typeface="Aptos"/>
                <a:ea typeface="Aptos"/>
                <a:cs typeface="Aptos"/>
              </a:rPr>
              <a:t>加载已保存配置或阻止覆盖旧 checkpoint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A1CC49-83EE-4BAB-A014-56F366ADE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76450"/>
            <a:ext cx="1866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2383">
            <a:solidFill>
              <a:srgbClr val="CFD7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91A42B-993E-47F4-A5C8-3EF73A871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764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73CEEC-96C2-4B08-B869-3B827030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209800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load scan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52A5E5-8C7C-4AC2-9C72-178F25AE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86025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9748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9748A"/>
                </a:solidFill>
                <a:latin typeface="Aptos"/>
                <a:ea typeface="Aptos"/>
                <a:cs typeface="Aptos"/>
              </a:rPr>
              <a:t>JSON 或 Python scan 脚本 -&gt; FunctionInfo[]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794391-647A-4E78-BC0B-2DAC70A8C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76450"/>
            <a:ext cx="1866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6F4"/>
          </a:solidFill>
          <a:ln xmlns:a="http://schemas.openxmlformats.org/drawingml/2006/main" w="12383">
            <a:solidFill>
              <a:srgbClr val="CFD7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3D6381-A75D-4141-AB55-39D02E35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764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5D163D-682A-44C7-ACC1-ADFD95BA2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209800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for each function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CCDBCF-5346-4187-8F34-45F82E0C1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486025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9748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9748A"/>
                </a:solidFill>
                <a:latin typeface="Aptos"/>
                <a:ea typeface="Aptos"/>
                <a:cs typeface="Aptos"/>
              </a:rPr>
              <a:t>按入口函数逐个审计，可跳过已完成项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6B30FC-EE16-4546-AAA8-865384B7C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76450"/>
            <a:ext cx="1981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F"/>
          </a:solidFill>
          <a:ln xmlns:a="http://schemas.openxmlformats.org/drawingml/2006/main" w="12383">
            <a:solidFill>
              <a:srgbClr val="CFD7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271883-9C5F-4AE9-9387-9F162FA1C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764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7AC935-7858-43AB-9E24-27D08918D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209800"/>
            <a:ext cx="1676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save checkpoint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909E17-9FBD-4A13-96D5-6BBDE3828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86025"/>
            <a:ext cx="1676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9748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9748A"/>
                </a:solidFill>
                <a:latin typeface="Aptos"/>
                <a:ea typeface="Aptos"/>
                <a:cs typeface="Aptos"/>
              </a:rPr>
              <a:t>TraceResult + meta 写入 output/checkpoints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5811EA-3789-4FD4-8D7A-2BBDD3505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4574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707DD1-9E88-4588-81CE-9460750D2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3622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FD7E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FD7E3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01AA21-A80E-4842-9B03-299EB6375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457450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CF619C-B277-43CB-9146-9B9F0A8F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622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FD7E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FD7E3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CFBAB0-4929-44AE-81A4-3FDB8DE71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57450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E46D6C-91F1-4667-B0CE-364A47E70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622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FD7E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FD7E3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0D6A45F-9E45-4BED-AAE3-494ADD94D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57450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15CE347-0F7F-4955-8456-DFB87BC4D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622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FD7E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FD7E3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FE84D34-B991-4000-A2BE-9DF505107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857500"/>
            <a:ext cx="190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5BA9941-AD19-4906-9AC4-D211C8C7B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371850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9F8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9F8F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C0A53C4-0E5B-4F4A-9EBF-4CF8CF6D4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33800"/>
            <a:ext cx="2400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6F4"/>
          </a:solidFill>
          <a:ln xmlns:a="http://schemas.openxmlformats.org/drawingml/2006/main" w="12383">
            <a:solidFill>
              <a:srgbClr val="CFD7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348762E-8E8D-405D-8E61-03070A1B1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3380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E29D997-47E1-45F2-B450-486B4832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671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Trace Explorer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D6A2A92-CE25-436D-81F7-A7745044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43375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9748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9748A"/>
                </a:solidFill>
                <a:latin typeface="Aptos"/>
                <a:ea typeface="Aptos"/>
                <a:cs typeface="Aptos"/>
              </a:rPr>
              <a:t>外部 runtime 按统一 prompt 读取源码，输出 code_logic/code_map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36B2F2A-E88E-4D85-B6F4-FFDBDCDA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733800"/>
            <a:ext cx="2400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12383">
            <a:solidFill>
              <a:srgbClr val="CFD7E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48AF9D1-B4C2-4E75-AC13-FBE12DE67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73380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AFAE68B-B9CC-417D-81DA-636D7CBB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8671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Audit Specs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8E5F841-7331-4E9A-8433-BB7020391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143375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9748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9748A"/>
                </a:solidFill>
                <a:latin typeface="Aptos"/>
                <a:ea typeface="Aptos"/>
                <a:cs typeface="Aptos"/>
              </a:rPr>
              <a:t>YAML 注册漏洞类型、系统提示词、是否开启 exploit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A693A31-0592-44C4-A115-DC386DCC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33800"/>
            <a:ext cx="2400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12383">
            <a:solidFill>
              <a:srgbClr val="CFD7E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D230288-3036-48DB-9796-A6DD30C4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3380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C80FA31-4C8D-4835-97E4-526DF1C0B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671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Audit Runner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64ECE6E-7338-43CF-98ED-E87F9CCD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143375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9748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9748A"/>
                </a:solidFill>
                <a:latin typeface="Aptos"/>
                <a:ea typeface="Aptos"/>
                <a:cs typeface="Aptos"/>
              </a:rPr>
              <a:t>对每个漏洞类型运行结构化审计，产出 AuditResult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286C64C-EBC2-4E1C-B89E-9E20FC6F7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733800"/>
            <a:ext cx="1962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12383">
            <a:solidFill>
              <a:srgbClr val="CFD7E3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BC6B02D-6789-4EE0-85A7-583159F1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73380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FC4C8E0-91E0-4660-8EA8-F8FBA1DE1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86715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Exploit Runner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B8A45F2-207C-4326-B8AC-50B5E8797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143375"/>
            <a:ext cx="1657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9748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9748A"/>
                </a:solidFill>
                <a:latin typeface="Aptos"/>
                <a:ea typeface="Aptos"/>
                <a:cs typeface="Aptos"/>
              </a:rPr>
              <a:t>高/中置信度且未禁用时，用 PoC 验证漏洞真实性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01058AF-51DF-4105-92B8-BD49D28E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9100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3D7D979-4EB6-4024-B9FE-0D0C1B81E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9575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9F8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9F8F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4D614C4-E53D-424E-91FB-28C780420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19100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A335B12-6DD7-42D4-8A7E-9A86A007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28A0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28A00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A4EA335-FE83-4168-9641-91CDB7A8D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19100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403042E-B404-48DC-85EC-3A7F7A548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9575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645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64545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A27D239-B96D-4AB9-BB4A-45E6A88EC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34000"/>
            <a:ext cx="1038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E2A36EB-10F5-4BC2-8CCB-66D514F1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505450"/>
            <a:ext cx="6591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F"/>
          </a:solidFill>
          <a:ln xmlns:a="http://schemas.openxmlformats.org/drawingml/2006/main" w="12383">
            <a:solidFill>
              <a:srgbClr val="CFD7E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8177F27-90A5-4E5B-A471-084A1EB8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5054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FAA5DC3-ADFC-4243-9E8D-19AE8172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638800"/>
            <a:ext cx="628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merge_checkpoints_and_export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4FB39E6-22C8-4C37-B801-845EE4818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915025"/>
            <a:ext cx="628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9748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9748A"/>
                </a:solidFill>
                <a:latin typeface="Aptos"/>
                <a:ea typeface="Aptos"/>
                <a:cs typeface="Aptos"/>
              </a:rPr>
              <a:t>所有函数审计完毕后，按 checkpoint 合并结果并导出 trace_results_*.json / .html / .sarif / _issues.sarif。</a:t>
            </a:r>
          </a:p>
        </p:txBody>
      </p:sp>
    </p:spTree>
    <p:extLst>
      <p:ext uri="{BB962C8B-B14F-4D97-AF65-F5344CB8AC3E}">
        <p14:creationId xmlns:p14="http://schemas.microsoft.com/office/powerpoint/2010/main" val="120988018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0353A9-C322-4DBF-9971-2A5C93342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77B15C-3E76-4365-A2E3-E99B3D27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9748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9748A"/>
                </a:solidFill>
                <a:latin typeface="Aptos"/>
                <a:ea typeface="Aptos"/>
                <a:cs typeface="Aptos"/>
              </a:rPr>
              <a:t>TSJ Audit | Code Audit AI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FDAEF1-6D41-4D10-9653-D52AB3CA4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95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60FE84B-9AA0-43FB-8E64-53267A1E1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19103BF-DA7C-481A-8F45-DC070D9A4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DATA CONTRACT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EA249E-9C2C-424A-B768-62FD049D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781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数据模型把 AI 推理压回到可校验的结构化边界内。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EA6F0F-DDEB-4758-9E07-FE1429D53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00200"/>
            <a:ext cx="8191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9748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9748A"/>
                </a:solidFill>
                <a:latin typeface="Aptos"/>
                <a:ea typeface="Aptos"/>
                <a:cs typeface="Aptos"/>
              </a:rPr>
              <a:t>FunctionInfo、CodeContext、TraceResult、AuditResult 和 ExploitResult 是各阶段之间的事实合同。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30E696-F76F-44CB-9339-EB6083B4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27813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2383">
            <a:solidFill>
              <a:srgbClr val="CFD7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6B9713-7621-47E4-B35F-ADE038836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47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20A39F-85A5-4306-954B-54ECB6E1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FunctionInfo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73AD23-1F44-48CF-89F2-3FEC51736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47925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9748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9748A"/>
                </a:solidFill>
                <a:latin typeface="Aptos"/>
                <a:ea typeface="Aptos"/>
                <a:cs typeface="Aptos"/>
              </a:rPr>
              <a:t>入口函数名、文件、行号、代码片段、skill、外部输入标识、审计类型列表。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E1BE24-22D7-435E-AB85-4EBE8D666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38350"/>
            <a:ext cx="27813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6F4"/>
          </a:solidFill>
          <a:ln xmlns:a="http://schemas.openxmlformats.org/drawingml/2006/main" w="12383">
            <a:solidFill>
              <a:srgbClr val="CFD7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B96263-F0AB-4535-8EA2-606FB280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38350"/>
            <a:ext cx="47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3CDC84-DEE9-4AF8-AFA3-38A97ADA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717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CodeContext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A6E66F-6812-45D7-AE49-2C01C504B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47925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9748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9748A"/>
                </a:solidFill>
                <a:latin typeface="Aptos"/>
                <a:ea typeface="Aptos"/>
                <a:cs typeface="Aptos"/>
              </a:rPr>
              <a:t>函数级上下文、代码片段、是否入口、taint_source、taint_path。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6D4BD3-4148-46EE-968A-BE587FD15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38350"/>
            <a:ext cx="27813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F"/>
          </a:solidFill>
          <a:ln xmlns:a="http://schemas.openxmlformats.org/drawingml/2006/main" w="12383">
            <a:solidFill>
              <a:srgbClr val="CFD7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B3B551-D296-4DE5-8BFA-EDE8ED113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38350"/>
            <a:ext cx="47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90A449-CA1F-4684-9688-704FC130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717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TraceResult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B11CB4-E6F2-4EF5-B634-3EE430241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47925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9748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9748A"/>
                </a:solidFill>
                <a:latin typeface="Aptos"/>
                <a:ea typeface="Aptos"/>
                <a:cs typeface="Aptos"/>
              </a:rPr>
              <a:t>入口函数 + 代码逻辑 + code_map + audit_results + exploit_results。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1F0902-F84E-4182-8716-4C4AF4C38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638550"/>
            <a:ext cx="19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E30C1A-BD92-4588-9713-A5E6B8A83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638550"/>
            <a:ext cx="19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50E54A-EB7E-4F24-A78F-E7A65583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638550"/>
            <a:ext cx="19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C0A5A0-0A8E-48E4-9C46-F2E1B11AF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2781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2383">
            <a:solidFill>
              <a:srgbClr val="CFD7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2BFCAD-B5BB-4362-BC64-3298E8E8E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46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F00DEB-EF13-43D0-9DDD-1344492E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053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TraceOutput schema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C1816B-906A-4A60-AC41-78675D078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81575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9748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9748A"/>
                </a:solidFill>
                <a:latin typeface="Aptos"/>
                <a:ea typeface="Aptos"/>
                <a:cs typeface="Aptos"/>
              </a:rPr>
              <a:t>runtime 必须返回 code_logic 与 code_map，失败时降级为 entry context。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F808D0-A1CF-4F26-A1FD-D4D6E8D94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572000"/>
            <a:ext cx="2781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12383">
            <a:solidFill>
              <a:srgbClr val="CFD7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4F31A8-E37B-4FC8-B1B8-F0921DB89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57200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0D099F-74D2-4B4F-BF0C-C4A83973C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7053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AuditOutput schema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F5CBA5-D0E5-4E85-B611-8CB70AF5F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981575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9748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9748A"/>
                </a:solidFill>
                <a:latin typeface="Aptos"/>
                <a:ea typeface="Aptos"/>
                <a:cs typeface="Aptos"/>
              </a:rPr>
              <a:t>is_vulnerable、confidence、description、taint_flow、recommendation。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F77847-36D2-4527-ABEB-BEC55E07D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72000"/>
            <a:ext cx="2781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12383">
            <a:solidFill>
              <a:srgbClr val="CFD7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FBB806-8D47-4492-A0CA-335B1648D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7200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DF20E8-AFD2-406C-978F-48C62BE91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053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ExploitOutput schema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796082-E2DF-4C81-85AE-6228C4F5B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981575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9748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9748A"/>
                </a:solidFill>
                <a:latin typeface="Aptos"/>
                <a:ea typeface="Aptos"/>
                <a:cs typeface="Aptos"/>
              </a:rPr>
              <a:t>success、poc_command、summary、error，映射为 ExploitResult。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19B08AB-BBED-4724-83A2-98E5C5C1D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769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7A29045-18ED-4313-B754-1DA6DB38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10250"/>
            <a:ext cx="885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统一 JSON Schema 降低幻觉输出：runtime 最终回答必须能被 Pydantic 校验。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4D79CC5-3BC8-4835-9BBA-04ADEF78F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817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EBFC15C-82C8-468A-85A2-EC0A1BBB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923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checkpoint 保存 TraceResult，使断点恢复、复审和多格式导出都以同一份结构化数据为准。</a:t>
            </a:r>
          </a:p>
        </p:txBody>
      </p:sp>
    </p:spTree>
    <p:extLst>
      <p:ext uri="{BB962C8B-B14F-4D97-AF65-F5344CB8AC3E}">
        <p14:creationId xmlns:p14="http://schemas.microsoft.com/office/powerpoint/2010/main" val="16476149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871206-E278-4B97-A1B9-226FF278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8E55A5-DCEA-43DC-A669-B4065FE1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9748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9748A"/>
                </a:solidFill>
                <a:latin typeface="Aptos"/>
                <a:ea typeface="Aptos"/>
                <a:cs typeface="Aptos"/>
              </a:rPr>
              <a:t>TSJ Audit | Code Audit AI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3D4DB7-EE0F-4EE0-AAA8-17E37EB8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95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16B878E-01AE-47B0-BDEF-3531AE921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9B84CC7-B466-4161-B636-DEB88FAF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AGENT RUNTIME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96E8DF-8B0F-43B3-A87E-2286F2B06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781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真正的代码理解发生在可替换的 Agent Runtime 中。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6E2DCA-1298-4895-A6EF-2B03B16B9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00200"/>
            <a:ext cx="8191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9748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9748A"/>
                </a:solidFill>
                <a:latin typeface="Aptos"/>
                <a:ea typeface="Aptos"/>
                <a:cs typeface="Aptos"/>
              </a:rPr>
              <a:t>runtime_factory 只暴露 create_trace_explorer / create_audit_runner / create_exploit_runner，底层可切换 opencode、codex、claudecode。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9AA4FB-B869-424B-9158-1251D44FE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22669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2383">
            <a:solidFill>
              <a:srgbClr val="CFD7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815760-2459-4099-9ADE-435E6D63B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46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135EBC-3C00-4135-BC6E-E0CE6AE98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19350"/>
            <a:ext cx="196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runtime_factory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2DDF79-6B66-488F-A417-0E97A003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95575"/>
            <a:ext cx="1962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9748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9748A"/>
                </a:solidFill>
                <a:latin typeface="Aptos"/>
                <a:ea typeface="Aptos"/>
                <a:cs typeface="Aptos"/>
              </a:rPr>
              <a:t>读取 Config.agent_runtime；校验支持集合；创建对应 runner。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2E0751-D706-4B8B-A83B-CAF28417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286000"/>
            <a:ext cx="22669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2383">
            <a:solidFill>
              <a:srgbClr val="CFD7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B9CCC0-1A90-4582-B630-44340906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28600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A65E6F-8E83-4042-A6DA-016982A13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19350"/>
            <a:ext cx="196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AgentRuntimeClient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09EED6-16FD-4FF8-8D11-BD22DC67A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695575"/>
            <a:ext cx="1962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9748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9748A"/>
                </a:solidFill>
                <a:latin typeface="Aptos"/>
                <a:ea typeface="Aptos"/>
                <a:cs typeface="Aptos"/>
              </a:rPr>
              <a:t>门面层选择 OpenCode / Codex / ClaudeCode 具体 client。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33048C-8ADF-40EC-9E45-4DD53A9F9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86000"/>
            <a:ext cx="22669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6F4"/>
          </a:solidFill>
          <a:ln xmlns:a="http://schemas.openxmlformats.org/drawingml/2006/main" w="12383">
            <a:solidFill>
              <a:srgbClr val="CFD7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7DD563-1F99-4801-928D-7B6261992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8600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2C3735-9CFA-4D57-9A31-2FCC043CE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419350"/>
            <a:ext cx="196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BaseRuntimeClient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5B1348-0D9A-48D2-BB5F-277E150C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95575"/>
            <a:ext cx="1962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9748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9748A"/>
                </a:solidFill>
                <a:latin typeface="Aptos"/>
                <a:ea typeface="Aptos"/>
                <a:cs typeface="Aptos"/>
              </a:rPr>
              <a:t>组装统一 prompt：system + runtime guardrails + JSON Schema + user task。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35B557-5CC3-4978-8B61-16381A2E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0"/>
            <a:ext cx="1905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F"/>
          </a:solidFill>
          <a:ln xmlns:a="http://schemas.openxmlformats.org/drawingml/2006/main" w="12383">
            <a:solidFill>
              <a:srgbClr val="CFD7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37419A-2836-45EC-8CAE-E83F97AA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87E9A6-8718-4BC2-9CE8-9A8DDE037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419350"/>
            <a:ext cx="1600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extract_structured_model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DC0AE7-0A38-4708-A492-600B95CF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95575"/>
            <a:ext cx="1600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9748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9748A"/>
                </a:solidFill>
                <a:latin typeface="Aptos"/>
                <a:ea typeface="Aptos"/>
                <a:cs typeface="Aptos"/>
              </a:rPr>
              <a:t>从 runtime 原始输出中提取结构化对象并做模型校验。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8A92FD-FE65-4038-95DC-5814E6E2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38450"/>
            <a:ext cx="647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44ED88-D0F6-4FDA-A688-9309F02F5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432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FD7E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FD7E3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0F2803-5C6E-48BD-862C-619808BE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838450"/>
            <a:ext cx="647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7E9058-3DA2-41D9-B02C-2036FE98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432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FD7E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FD7E3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0F38B6-4B60-4B2D-BD0B-BB22A92AB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38450"/>
            <a:ext cx="647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DD609C-2A90-4548-B100-676A3818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7432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FD7E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FD7E3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F2F26C-05FD-4923-959A-D663FF6D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3143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12383">
            <a:solidFill>
              <a:srgbClr val="CFD7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ACB57B-301A-4680-81E7-B1E8BB9A9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7C02CE-FAAA-4377-8A8B-E732976D9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05300"/>
            <a:ext cx="2838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Skill injection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6E8F43-75BF-46CF-9A7A-8D82332FA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2838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9748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9748A"/>
                </a:solidFill>
                <a:latin typeface="Aptos"/>
                <a:ea typeface="Aptos"/>
                <a:cs typeface="Aptos"/>
              </a:rPr>
              <a:t>如果 FunctionInfo.skill 存在，utils.runtime_skills 会把项目内 skills/&lt;skill&gt; 复制到 runtime 对应目录，并在 prompt 中强制使用。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BF7659F-F291-4F01-AB18-D13C0B62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171950"/>
            <a:ext cx="3143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12383">
            <a:solidFill>
              <a:srgbClr val="CFD7E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3E3859F-2D8E-4B13-9117-C88C6308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17195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6EE6F23-7208-4C6A-B217-33C9AFFC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305300"/>
            <a:ext cx="2838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Runtime guardrails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EB9B70B-0A28-4AD7-99D2-CBEA7F5A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581525"/>
            <a:ext cx="2838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9748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9748A"/>
                </a:solidFill>
                <a:latin typeface="Aptos"/>
                <a:ea typeface="Aptos"/>
                <a:cs typeface="Aptos"/>
              </a:rPr>
              <a:t>审计 prompt 明确要求从入口函数数据流追踪，禁止全局搜索危险函数名后直接下结论。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00F9D22-51DF-441C-A32A-237AD4F6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71950"/>
            <a:ext cx="3143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2383">
            <a:solidFill>
              <a:srgbClr val="CFD7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731C875-7BD6-478B-A26D-B39EBAE4C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7195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46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57E4C4A-C22E-40F8-B6E3-8E0648CC7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05300"/>
            <a:ext cx="2838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Failure behavior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FA977D3-ADB1-4AD4-8628-74FDB2FF7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581525"/>
            <a:ext cx="2838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9748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9748A"/>
                </a:solidFill>
                <a:latin typeface="Aptos"/>
                <a:ea typeface="Aptos"/>
                <a:cs typeface="Aptos"/>
              </a:rPr>
              <a:t>trace 失败时保留入口上下文；audit 失败时返回低置信度未确认，避免编造漏洞。</a:t>
            </a:r>
          </a:p>
        </p:txBody>
      </p:sp>
    </p:spTree>
    <p:extLst>
      <p:ext uri="{BB962C8B-B14F-4D97-AF65-F5344CB8AC3E}">
        <p14:creationId xmlns:p14="http://schemas.microsoft.com/office/powerpoint/2010/main" val="23142184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740B75-39A6-472C-9C40-B34A27A0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10658C-40B6-4647-9E9A-FF27C0230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9748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9748A"/>
                </a:solidFill>
                <a:latin typeface="Aptos"/>
                <a:ea typeface="Aptos"/>
                <a:cs typeface="Aptos"/>
              </a:rPr>
              <a:t>TSJ Audit | Code Audit AI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BE22E5-A1E3-4C88-91C9-FC1484D2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95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79A63C3-44D1-450C-81C8-95044C0D4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350D3D0-A200-42EE-8089-5B510D8AA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REPORTING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CCCBA2-6C34-4BFC-A9B8-1FD2E5C36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781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恢复与导出机制让长审计任务不依赖一次性跑完。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BB9629-E319-40BB-8ADC-1380804C0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00200"/>
            <a:ext cx="8191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9748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9748A"/>
                </a:solidFill>
                <a:latin typeface="Aptos"/>
                <a:ea typeface="Aptos"/>
                <a:cs typeface="Aptos"/>
              </a:rPr>
              <a:t>输出目录既是断点恢复的状态仓库，也是最终报告的汇聚点。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C1D7ED-A5F8-4AF4-82DC-8B827F83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97904F-9436-4329-AC6D-A32BE5F2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2286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2383">
            <a:solidFill>
              <a:srgbClr val="CFD7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15B76A-992D-414D-AD75-2EA353990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8A74B4-0C33-4ED7-9228-3BCFD6C2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90800"/>
            <a:ext cx="198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audit_config.json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721B29-DDD5-46D8-A1C9-015CFF60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67025"/>
            <a:ext cx="1981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9748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9748A"/>
                </a:solidFill>
                <a:latin typeface="Aptos"/>
                <a:ea typeface="Aptos"/>
                <a:cs typeface="Aptos"/>
              </a:rPr>
              <a:t>首次运行保存配置；resume 时优先加载旧配置，只保留命令行 resume 开关。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41B4B2-8508-48C8-9424-39D8440D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57450"/>
            <a:ext cx="2286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F"/>
          </a:solidFill>
          <a:ln xmlns:a="http://schemas.openxmlformats.org/drawingml/2006/main" w="12383">
            <a:solidFill>
              <a:srgbClr val="CFD7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D50E3A-D3E6-4FA4-81D7-00776FE5C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574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01512E-BD0A-4DF2-9B1E-394C3B5B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590800"/>
            <a:ext cx="198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checkpoints/*.json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672F99-9E7C-4B21-8305-8B1CD56D9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867025"/>
            <a:ext cx="1981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9748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9748A"/>
                </a:solidFill>
                <a:latin typeface="Aptos"/>
                <a:ea typeface="Aptos"/>
                <a:cs typeface="Aptos"/>
              </a:rPr>
              <a:t>每个函数保存独立 TraceResult，包含函数、追踪、审计与 exploit 结果。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E884EA-75B4-4559-82A5-8C9D640DA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57450"/>
            <a:ext cx="2286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6F4"/>
          </a:solidFill>
          <a:ln xmlns:a="http://schemas.openxmlformats.org/drawingml/2006/main" w="12383">
            <a:solidFill>
              <a:srgbClr val="CFD7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E5BE04-FBA0-459D-8A92-B6CB3424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574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B6B0B6-4737-4317-942E-E3762675B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90800"/>
            <a:ext cx="198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conversations/&lt;agent&gt;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2E4090-F48B-4E3A-92B3-74CF0155A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67025"/>
            <a:ext cx="1981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9748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9748A"/>
                </a:solidFill>
                <a:latin typeface="Aptos"/>
                <a:ea typeface="Aptos"/>
                <a:cs typeface="Aptos"/>
              </a:rPr>
              <a:t>trace_agent 对话历史按函数保存，方便复盘 runtime 的推理过程。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85378D-97EB-4E72-9DEA-660151E4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57450"/>
            <a:ext cx="1809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12383">
            <a:solidFill>
              <a:srgbClr val="CFD7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BC0FB4-F82C-48B9-A8AB-14824758D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574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54BDCF-257F-45C8-8405-183C8DD26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59080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trace_results_*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526447-8E1C-4E95-A25B-B4CC02BEE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867025"/>
            <a:ext cx="1504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9748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9748A"/>
                </a:solidFill>
                <a:latin typeface="Aptos"/>
                <a:ea typeface="Aptos"/>
                <a:cs typeface="Aptos"/>
              </a:rPr>
              <a:t>最终导出 JSON、HTML、SARIF、SARIF issues 四类结果。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1071D6-10E7-457A-952F-C7FDD0E6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47434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CFD7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7E334C-DF84-4459-9F75-24959DD60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815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恢复策略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CFB6F3-DEB1-47E6-8107-677AB87BB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482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58F3AB-F4D1-4621-958A-702F268D5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781550"/>
            <a:ext cx="3810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非 resume 且已有 checkpoint：直接阻止覆盖。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429719-FFD2-4273-8FCC-7EAEFB1F5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720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843EAD-AD69-48B1-ADDB-57ED545F1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5400"/>
            <a:ext cx="3810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resume：加载所有 checkpoint，已完成函数跳过。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164EC4-DB18-4100-B523-BF49D741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171950"/>
            <a:ext cx="47434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CFD7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BC3C6E-8769-4BE7-8BAB-A27A0374B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815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报告策略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28FBC9F-1CA6-47E9-BAD5-8E2DCE84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482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F591912-F065-489D-A2D0-B439A41C7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781550"/>
            <a:ext cx="3810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以 checkpoint 为事实源合并，函数名排序。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22B93D6-418C-4754-9E03-AB00045E1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720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5343C47-34AE-41DF-BF72-2460940AB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1054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HTML 面向人工查看，SARIF 面向工具链集成。</a:t>
            </a:r>
          </a:p>
        </p:txBody>
      </p:sp>
    </p:spTree>
    <p:extLst>
      <p:ext uri="{BB962C8B-B14F-4D97-AF65-F5344CB8AC3E}">
        <p14:creationId xmlns:p14="http://schemas.microsoft.com/office/powerpoint/2010/main" val="71868988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31ADA0-DB5D-4EC3-B9E6-141635F9F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1E617A-2AC9-4F40-AC26-CA2893DA3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9748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9748A"/>
                </a:solidFill>
                <a:latin typeface="Aptos"/>
                <a:ea typeface="Aptos"/>
                <a:cs typeface="Aptos"/>
              </a:rPr>
              <a:t>TSJ Audit | Code Audit AI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C6AF70-5F68-4D76-9D22-BD44A56D6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95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A7EC49D-EB5C-46FF-8E2C-B8C73C56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A2537C5-962A-4327-A6E8-134033EED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DESIGN READOUT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9FB257-541B-4BAF-9B7F-F2DA0190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781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这个工具的优势在于分层清楚，下一步应补强可观测性与确定性测试。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5A9476-C56C-4DF3-B6CA-E2422726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00200"/>
            <a:ext cx="8191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9748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9748A"/>
                </a:solidFill>
                <a:latin typeface="Aptos"/>
                <a:ea typeface="Aptos"/>
                <a:cs typeface="Aptos"/>
              </a:rPr>
              <a:t>当前架构已经具备可插拔 runtime、YAML 审计规格、skill 注入和多格式导出，适合继续演进为批量审计平台。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AFE7AD-6FDB-488D-A021-1FCB06DF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30099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F"/>
          </a:solidFill>
          <a:ln xmlns:a="http://schemas.openxmlformats.org/drawingml/2006/main" w="12383">
            <a:solidFill>
              <a:srgbClr val="CFD7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F57B83-67A4-4F9D-AE8C-93D068EA2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72CDF3-547F-4349-9629-F9DF8A384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28850"/>
            <a:ext cx="2705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已经做对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DF358A-D316-4B40-9394-863CC0132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05075"/>
            <a:ext cx="2705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9748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9748A"/>
                </a:solidFill>
                <a:latin typeface="Aptos"/>
                <a:ea typeface="Aptos"/>
                <a:cs typeface="Aptos"/>
              </a:rPr>
              <a:t>入口函数驱动、结构化 schema、checkpoint 恢复、runtime 抽象、YAML 化漏洞规则。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3FAD6D-8DA5-4CAA-A76E-56DDACEF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95500"/>
            <a:ext cx="30099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12383">
            <a:solidFill>
              <a:srgbClr val="CFD7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C2E039-257C-4042-980E-C2F59BF7C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9550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9C93CA-C957-4E35-87A3-AD691DD40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228850"/>
            <a:ext cx="2705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主要风险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0F49A0-6BD8-4EC7-B69F-DEA6FCDB6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505075"/>
            <a:ext cx="2705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9748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9748A"/>
                </a:solidFill>
                <a:latin typeface="Aptos"/>
                <a:ea typeface="Aptos"/>
                <a:cs typeface="Aptos"/>
              </a:rPr>
              <a:t>外部 runtime 质量决定 trace/audit 质量；prompt 与 skill 内容变化会影响复现性。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854C84-0B84-485D-96A5-436523D5F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95500"/>
            <a:ext cx="30099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2383">
            <a:solidFill>
              <a:srgbClr val="CFD7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D807EE-DBFF-47A7-853C-9AF4E5E47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9550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EC1505-2D71-4320-ABC6-9CEAC189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228850"/>
            <a:ext cx="2705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建议补强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47E5EA-6D97-47A5-848F-6F2F9749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05075"/>
            <a:ext cx="2705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9748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9748A"/>
                </a:solidFill>
                <a:latin typeface="Aptos"/>
                <a:ea typeface="Aptos"/>
                <a:cs typeface="Aptos"/>
              </a:rPr>
              <a:t>为 scan、schema extraction、export、runtime fallback、resume 路径增加测试与审计日志指标。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79DB06-8061-4845-BF06-8EAE89B1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955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优先级建议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8CBC8E-0862-413A-94AC-FAFEF73E4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243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128351-ECA6-4D28-9FF9-403E074E7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5770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P0：给 runtime 输出解析失败、低置信度 fallback、checkpoint 合并增加端到端测试。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8A3A0A-026A-40AD-862D-4A8D2FDB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863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36BD55-D903-49CC-A7F2-72F28C29F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965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P1：在报告中显式展示 taint_source、taint_path、runtime、prompt/spec 版本，便于复审。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FFCEFD-918B-42D0-96F7-4CD2EE9C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482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734F93-726B-4ED2-9098-D7F627AE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8160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P2：为 YAML audit_specs 加 schema 校验和最小样例，降低新增漏洞类型时的配置风险。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280233-B7A0-4CB0-9656-B5C4A25BC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102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D52792-C934-4483-A1BB-62189785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4355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P3：把 scan 输入、conversation 和 SARIF issue 做关联 ID，方便 CI/CD 与人工 triage 串联。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F9D15A-5300-4995-99B4-491A2AD00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264299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2026-05-11T18:12:53.2780000Z</dcterms:created>
  <dcterms:modified xsi:type="dcterms:W3CDTF">2026-05-11T18:12:53.2780000Z</dcterms:modified>
</coreProperties>
</file>